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/>
              <a:t>Gesture-Based Laptop Controller: One-Page Model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5669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/>
              <a:t>Dataset</a:t>
            </a:r>
          </a:p>
          <a:p>
            <a:pPr lvl="1"/>
            <a:r>
              <a:rPr sz="1100"/>
              <a:t>• 4600 samples, 63 landmark features, 4 gesture classes</a:t>
            </a:r>
          </a:p>
          <a:p>
            <a:pPr lvl="1"/>
            <a:r>
              <a:rPr sz="1100"/>
              <a:t>• Classes: move, click, scroll, pause (near-balanced)</a:t>
            </a:r>
          </a:p>
          <a:p>
            <a:r>
              <a:rPr b="1" sz="1400"/>
              <a:t>Model</a:t>
            </a:r>
          </a:p>
          <a:p>
            <a:pPr lvl="1"/>
            <a:r>
              <a:rPr sz="1100"/>
              <a:t>• RandomForest (n_estimators=100, max_depth=15, min_samples_split=5, min_samples_leaf=2)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68580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/>
              <a:t>Key Results</a:t>
            </a:r>
          </a:p>
          <a:p>
            <a:pPr lvl="1"/>
            <a:r>
              <a:rPr sz="1100"/>
              <a:t>• Test Accuracy: 0.9957</a:t>
            </a:r>
          </a:p>
          <a:p>
            <a:pPr lvl="1"/>
            <a:r>
              <a:rPr sz="1100"/>
              <a:t>• Weighted Precision: 0.9957</a:t>
            </a:r>
          </a:p>
          <a:p>
            <a:pPr lvl="1"/>
            <a:r>
              <a:rPr sz="1100"/>
              <a:t>• Weighted Recall: 0.9957</a:t>
            </a:r>
          </a:p>
          <a:p>
            <a:pPr lvl="1"/>
            <a:r>
              <a:rPr sz="1100"/>
              <a:t>• Weighted F1-score: 0.9957</a:t>
            </a:r>
          </a:p>
          <a:p>
            <a:pPr lvl="1"/>
            <a:r>
              <a:rPr sz="1100"/>
              <a:t>• ROC-AUC (micro): 1.0000</a:t>
            </a:r>
          </a:p>
          <a:p>
            <a:pPr lvl="1"/>
            <a:r>
              <a:rPr sz="1100"/>
              <a:t>• PR-AUC (micro): 0.9999</a:t>
            </a:r>
          </a:p>
        </p:txBody>
      </p:sp>
      <p:pic>
        <p:nvPicPr>
          <p:cNvPr id="5" name="Picture 4" descr="oob_erro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8840"/>
            <a:ext cx="283464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178808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/>
              <a:t>OOB Error Curve</a:t>
            </a:r>
          </a:p>
        </p:txBody>
      </p:sp>
      <p:pic>
        <p:nvPicPr>
          <p:cNvPr id="7" name="Picture 6" descr="roc_curve_multi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148840"/>
            <a:ext cx="283464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54680" y="4178808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/>
              <a:t>ROC Curves</a:t>
            </a:r>
          </a:p>
        </p:txBody>
      </p:sp>
      <p:pic>
        <p:nvPicPr>
          <p:cNvPr id="9" name="Picture 8" descr="precision_recall_curve_multi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148840"/>
            <a:ext cx="283464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4178808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/>
              <a:t>Precision-Recall Curves</a:t>
            </a:r>
          </a:p>
        </p:txBody>
      </p:sp>
      <p:pic>
        <p:nvPicPr>
          <p:cNvPr id="11" name="Picture 10" descr="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2148840"/>
            <a:ext cx="283464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15400" y="4178808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/>
              <a:t>Confusion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37083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/>
              <a:t>Generated from sample dataset (gesture_data.csv) | Pipeline: MediaPipe landmarks -&gt; RandomForest classifier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